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2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69AAD3C-D2B8-461A-BD7D-BF65EC7E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A98F913-A7B0-46FA-9408-E974E7D41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7A84883-F2E6-44E7-AA3D-DE25EC22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8C99EA0-B94F-48A4-95A1-F871B0314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D9B6AF3-8293-4992-B226-246CA62B4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160EEFF-6172-4AE2-A580-7FBD299F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63121E5-3954-432D-BF36-859C50FF8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5117D75-6ECD-4D1F-B46E-AB61C2002FD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B59EF79-E8F2-4BE7-90A1-6740653C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5683B5A-2D81-4195-BEBD-4419E8EE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FA08F3-28F7-420A-B5A2-69B4E0214275}"/>
              </a:ext>
            </a:extLst>
          </p:cNvPr>
          <p:cNvSpPr>
            <a:spLocks noGrp="1"/>
          </p:cNvSpPr>
          <p:nvPr/>
        </p:nvSpPr>
        <p:spPr>
          <a:xfrm>
            <a:off x="1520775" y="21001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1650" b="1">
                <a:solidFill>
                  <a:srgbClr val="A8DFDA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Institute of Information Technology Vadodara</a:t>
            </a:r>
            <a:endParaRPr sz="2000" b="1" dirty="0">
              <a:solidFill>
                <a:srgbClr val="A8DFD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E38709-E6FA-4B10-86D9-CF3F6BAA0F4E}"/>
              </a:ext>
            </a:extLst>
          </p:cNvPr>
          <p:cNvSpPr>
            <a:spLocks noGrp="1"/>
          </p:cNvSpPr>
          <p:nvPr/>
        </p:nvSpPr>
        <p:spPr>
          <a:xfrm>
            <a:off x="210336" y="3095866"/>
            <a:ext cx="11055741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
on
Quizingo – Online Quiz Platform</a:t>
            </a:r>
          </a:p>
          <a:p>
            <a:pPr algn="ctr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endParaRPr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9E268-6ADF-44F2-86D5-1DB77670F845}"/>
              </a:ext>
            </a:extLst>
          </p:cNvPr>
          <p:cNvSpPr>
            <a:spLocks noGrp="1"/>
          </p:cNvSpPr>
          <p:nvPr/>
        </p:nvSpPr>
        <p:spPr>
          <a:xfrm>
            <a:off x="3821019" y="4511937"/>
            <a:ext cx="6425917" cy="6305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000" lnSpcReduction="20000"/>
          </a:bodyPr>
          <a:lstStyle>
            <a:def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Presented by: [</a:t>
            </a:r>
            <a:r>
              <a:rPr lang="en-IN" dirty="0"/>
              <a:t>Sundaram Tripathi                      : 20251651091]</a:t>
            </a:r>
          </a:p>
          <a:p>
            <a: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n-IN" sz="1725" b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                         [Abhinav Kumar </a:t>
            </a:r>
            <a:r>
              <a:rPr lang="en-IN" sz="1725" b="0" dirty="0" err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Chandravanshi</a:t>
            </a:r>
            <a:r>
              <a:rPr lang="en-IN" sz="1725" b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 :20251651004]</a:t>
            </a:r>
          </a:p>
          <a:p>
            <a: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n-IN" dirty="0"/>
              <a:t>                          [Akshay Kumar                              : 20251651012]</a:t>
            </a:r>
          </a:p>
          <a:p>
            <a: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n-IN" sz="1725" b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                         [Ankit </a:t>
            </a:r>
            <a:r>
              <a:rPr lang="en-IN" sz="1725" b="0" dirty="0" err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kumar</a:t>
            </a:r>
            <a:r>
              <a:rPr lang="en-IN" sz="1725" b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                                  : 20251651022]</a:t>
            </a:r>
          </a:p>
          <a:p>
            <a: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endParaRPr sz="1725" b="0" dirty="0">
              <a:solidFill>
                <a:srgbClr val="FFFFFF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14C1E8-493F-482B-843C-20DC5A8DF205}"/>
              </a:ext>
            </a:extLst>
          </p:cNvPr>
          <p:cNvSpPr>
            <a:spLocks noGrp="1"/>
          </p:cNvSpPr>
          <p:nvPr/>
        </p:nvSpPr>
        <p:spPr>
          <a:xfrm>
            <a:off x="4113250" y="5537974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575" b="0">
                <a:solidFill>
                  <a:srgbClr val="C7D8E2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dirty="0">
                <a:solidFill>
                  <a:srgbClr val="C7D8E2"/>
                </a:solidFill>
                <a:latin typeface="Nimbus Sans"/>
                <a:ea typeface="Nimbus Sans"/>
                <a:cs typeface="Nimbus Sans"/>
              </a:rPr>
              <a:t>Guide: </a:t>
            </a:r>
            <a:r>
              <a:rPr lang="en-IN" dirty="0"/>
              <a:t>Rishabh Sir </a:t>
            </a:r>
            <a:r>
              <a:rPr sz="1575" b="0" dirty="0">
                <a:solidFill>
                  <a:srgbClr val="C7D8E2"/>
                </a:solidFill>
                <a:latin typeface="Nimbus Sans"/>
                <a:ea typeface="Nimbus Sans"/>
                <a:cs typeface="Nimbus Sans"/>
              </a:rPr>
              <a:t>     Department: MCA</a:t>
            </a:r>
            <a:r>
              <a:rPr lang="en-IN" sz="1575" b="0" dirty="0">
                <a:solidFill>
                  <a:srgbClr val="C7D8E2"/>
                </a:solidFill>
                <a:latin typeface="Nimbus Sans"/>
                <a:ea typeface="Nimbus Sans"/>
                <a:cs typeface="Nimbus Sans"/>
              </a:rPr>
              <a:t> , IIITV</a:t>
            </a:r>
            <a:endParaRPr sz="1575" b="0" dirty="0">
              <a:solidFill>
                <a:srgbClr val="C7D8E2"/>
              </a:solidFill>
              <a:latin typeface="Nimbus Sans"/>
              <a:ea typeface="Nimbus Sans"/>
              <a:cs typeface="Nimbus 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F3BC95-061A-5FCA-29C6-95FCEF9DDE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386" y="676275"/>
            <a:ext cx="1395873" cy="13958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EE9699-8B14-6398-205F-B539ACC3F355}"/>
              </a:ext>
            </a:extLst>
          </p:cNvPr>
          <p:cNvSpPr txBox="1"/>
          <p:nvPr/>
        </p:nvSpPr>
        <p:spPr>
          <a:xfrm>
            <a:off x="2311057" y="2376488"/>
            <a:ext cx="7118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 545 Software Engineering
MCA Second Year
Autumn 2026-27</a:t>
            </a:r>
          </a:p>
          <a:p>
            <a:pPr algn="ctr"/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98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C3D082F-5E26-4481-9EBA-B9BD20D3F70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6200" cy="466725"/>
          </a:xfrm>
          <a:prstGeom prst="rect">
            <a:avLst/>
          </a:prstGeom>
          <a:solidFill>
            <a:srgbClr val="057D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B55DAE-4D7B-4E79-8B69-5B24AA239271}"/>
              </a:ext>
            </a:extLst>
          </p:cNvPr>
          <p:cNvSpPr>
            <a:spLocks noGrp="1"/>
          </p:cNvSpPr>
          <p:nvPr/>
        </p:nvSpPr>
        <p:spPr>
          <a:xfrm>
            <a:off x="933450" y="495300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Problem and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26F972-DF6C-4F93-984E-21CE4534B640}"/>
              </a:ext>
            </a:extLst>
          </p:cNvPr>
          <p:cNvSpPr>
            <a:spLocks noGrp="1"/>
          </p:cNvSpPr>
          <p:nvPr/>
        </p:nvSpPr>
        <p:spPr>
          <a:xfrm>
            <a:off x="685800" y="1266825"/>
            <a:ext cx="10810875" cy="19050"/>
          </a:xfrm>
          <a:prstGeom prst="rect">
            <a:avLst/>
          </a:prstGeom>
          <a:solidFill>
            <a:srgbClr val="D7E3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9C2E25-523B-4031-8878-C4489B61CA0E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4686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CURRENT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F8B07-50FB-4B20-930E-DB9ECDF03D2F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>
            <a:def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Creating and managing quizzes manually takes time.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BF6CA-3A44-4E05-8D43-6E57ABE5BBAB}"/>
              </a:ext>
            </a:extLst>
          </p:cNvPr>
          <p:cNvSpPr>
            <a:spLocks noGrp="1"/>
          </p:cNvSpPr>
          <p:nvPr/>
        </p:nvSpPr>
        <p:spPr>
          <a:xfrm>
            <a:off x="762000" y="3228975"/>
            <a:ext cx="476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Manual checking can slow down result generation.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9C148C-8551-4744-83C2-C883864C3869}"/>
              </a:ext>
            </a:extLst>
          </p:cNvPr>
          <p:cNvSpPr>
            <a:spLocks noGrp="1"/>
          </p:cNvSpPr>
          <p:nvPr/>
        </p:nvSpPr>
        <p:spPr>
          <a:xfrm>
            <a:off x="762000" y="4486275"/>
            <a:ext cx="476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Questions and quiz attempts can be difficult to organize.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D5663E-06A4-4BBA-B38F-4D1C187860AF}"/>
              </a:ext>
            </a:extLst>
          </p:cNvPr>
          <p:cNvSpPr>
            <a:spLocks noGrp="1"/>
          </p:cNvSpPr>
          <p:nvPr/>
        </p:nvSpPr>
        <p:spPr>
          <a:xfrm>
            <a:off x="5905500" y="1743075"/>
            <a:ext cx="19050" cy="3886200"/>
          </a:xfrm>
          <a:prstGeom prst="rect">
            <a:avLst/>
          </a:prstGeom>
          <a:solidFill>
            <a:srgbClr val="D7E3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857BB-ED13-4B27-BF8C-83B55924C39B}"/>
              </a:ext>
            </a:extLst>
          </p:cNvPr>
          <p:cNvSpPr>
            <a:spLocks noGrp="1"/>
          </p:cNvSpPr>
          <p:nvPr/>
        </p:nvSpPr>
        <p:spPr>
          <a:xfrm>
            <a:off x="6381750" y="1676400"/>
            <a:ext cx="4591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PROJECT OBJECTIVES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C35BBC-D0E1-438B-A406-7E961780CCB1}"/>
              </a:ext>
            </a:extLst>
          </p:cNvPr>
          <p:cNvSpPr>
            <a:spLocks noGrp="1"/>
          </p:cNvSpPr>
          <p:nvPr/>
        </p:nvSpPr>
        <p:spPr>
          <a:xfrm>
            <a:off x="6381750" y="2266950"/>
            <a:ext cx="4648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Let teachers create and manage online quizzes.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D65043-08C8-42DE-A4BC-9683F23E5F2D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4714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Support student attempts and automatic grading.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867C31-C549-4515-B510-80DFC482A24C}"/>
              </a:ext>
            </a:extLst>
          </p:cNvPr>
          <p:cNvSpPr>
            <a:spLocks noGrp="1"/>
          </p:cNvSpPr>
          <p:nvPr/>
        </p:nvSpPr>
        <p:spPr>
          <a:xfrm>
            <a:off x="6381750" y="4552950"/>
            <a:ext cx="464820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Organize questions, classes, and results in one platform.</a:t>
            </a:r>
          </a:p>
        </p:txBody>
      </p:sp>
    </p:spTree>
    <p:extLst>
      <p:ext uri="{BB962C8B-B14F-4D97-AF65-F5344CB8AC3E}">
        <p14:creationId xmlns:p14="http://schemas.microsoft.com/office/powerpoint/2010/main" val="623513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08AEEA7-1F4A-48F2-A59E-AB5A6D1D9BF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6200" cy="466725"/>
          </a:xfrm>
          <a:prstGeom prst="rect">
            <a:avLst/>
          </a:prstGeom>
          <a:solidFill>
            <a:srgbClr val="057D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0ED67C-A05C-426B-B587-DE17F25DA9D7}"/>
              </a:ext>
            </a:extLst>
          </p:cNvPr>
          <p:cNvSpPr>
            <a:spLocks noGrp="1"/>
          </p:cNvSpPr>
          <p:nvPr/>
        </p:nvSpPr>
        <p:spPr>
          <a:xfrm>
            <a:off x="933450" y="495300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Proposed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95FA9-461E-40D8-AA62-6A4E14E0044A}"/>
              </a:ext>
            </a:extLst>
          </p:cNvPr>
          <p:cNvSpPr>
            <a:spLocks noGrp="1"/>
          </p:cNvSpPr>
          <p:nvPr/>
        </p:nvSpPr>
        <p:spPr>
          <a:xfrm>
            <a:off x="685800" y="1266825"/>
            <a:ext cx="10810875" cy="19050"/>
          </a:xfrm>
          <a:prstGeom prst="rect">
            <a:avLst/>
          </a:prstGeom>
          <a:solidFill>
            <a:srgbClr val="D7E3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2C138-CC38-435D-9DB5-9A05764AAE9D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1052512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Quizingo brings quiz creation, classroom management, and student attempts into one web platform.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11EE69-2EC1-4A0C-90D2-0A56EC0D995F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3257550" cy="1657350"/>
          </a:xfrm>
          <a:prstGeom prst="roundRect">
            <a:avLst>
              <a:gd name="adj" fmla="val 4598"/>
            </a:avLst>
          </a:prstGeom>
          <a:solidFill>
            <a:srgbClr val="F5F8FA"/>
          </a:solidFill>
          <a:ln w="9525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E47650-2E62-4F1A-ABF1-00ED5938D184}"/>
              </a:ext>
            </a:extLst>
          </p:cNvPr>
          <p:cNvSpPr>
            <a:spLocks noGrp="1"/>
          </p:cNvSpPr>
          <p:nvPr/>
        </p:nvSpPr>
        <p:spPr>
          <a:xfrm>
            <a:off x="1009650" y="34290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03B833-9872-486A-9463-A9494D7B56F6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Sign 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C6EE36-11A0-4EBC-A2D1-D65B45F062DD}"/>
              </a:ext>
            </a:extLst>
          </p:cNvPr>
          <p:cNvSpPr>
            <a:spLocks noGrp="1"/>
          </p:cNvSpPr>
          <p:nvPr/>
        </p:nvSpPr>
        <p:spPr>
          <a:xfrm>
            <a:off x="1009650" y="43719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Authenticate user account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5F2165-046D-41BE-970F-A339A2FCA641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3257550" cy="1657350"/>
          </a:xfrm>
          <a:prstGeom prst="roundRect">
            <a:avLst>
              <a:gd name="adj" fmla="val 4598"/>
            </a:avLst>
          </a:prstGeom>
          <a:solidFill>
            <a:srgbClr val="EAF8F5"/>
          </a:solidFill>
          <a:ln w="9525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E8F0DF-112E-4FB9-8337-4AD460711DD2}"/>
              </a:ext>
            </a:extLst>
          </p:cNvPr>
          <p:cNvSpPr>
            <a:spLocks noGrp="1"/>
          </p:cNvSpPr>
          <p:nvPr/>
        </p:nvSpPr>
        <p:spPr>
          <a:xfrm>
            <a:off x="4876800" y="34290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13087E-9DEE-4934-AFB8-945A3572343A}"/>
              </a:ext>
            </a:extLst>
          </p:cNvPr>
          <p:cNvSpPr>
            <a:spLocks noGrp="1"/>
          </p:cNvSpPr>
          <p:nvPr/>
        </p:nvSpPr>
        <p:spPr>
          <a:xfrm>
            <a:off x="4876800" y="3857625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Choose quiz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8003D3-A2AF-4195-9481-6EBC483CAC21}"/>
              </a:ext>
            </a:extLst>
          </p:cNvPr>
          <p:cNvSpPr>
            <a:spLocks noGrp="1"/>
          </p:cNvSpPr>
          <p:nvPr/>
        </p:nvSpPr>
        <p:spPr>
          <a:xfrm>
            <a:off x="4876800" y="43719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Join a classroom or open a quiz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736CEA-3F68-4690-976B-FADC591A423B}"/>
              </a:ext>
            </a:extLst>
          </p:cNvPr>
          <p:cNvSpPr>
            <a:spLocks noGrp="1"/>
          </p:cNvSpPr>
          <p:nvPr/>
        </p:nvSpPr>
        <p:spPr>
          <a:xfrm>
            <a:off x="8515350" y="3276600"/>
            <a:ext cx="3257550" cy="1657350"/>
          </a:xfrm>
          <a:prstGeom prst="roundRect">
            <a:avLst>
              <a:gd name="adj" fmla="val 4598"/>
            </a:avLst>
          </a:prstGeom>
          <a:solidFill>
            <a:srgbClr val="F5F8FA"/>
          </a:solidFill>
          <a:ln w="9525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8199FE-67AB-45D1-B052-D3D855EE22B9}"/>
              </a:ext>
            </a:extLst>
          </p:cNvPr>
          <p:cNvSpPr>
            <a:spLocks noGrp="1"/>
          </p:cNvSpPr>
          <p:nvPr/>
        </p:nvSpPr>
        <p:spPr>
          <a:xfrm>
            <a:off x="8743950" y="3429000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DBC397-BBF0-486C-ACFE-674BB3924518}"/>
              </a:ext>
            </a:extLst>
          </p:cNvPr>
          <p:cNvSpPr>
            <a:spLocks noGrp="1"/>
          </p:cNvSpPr>
          <p:nvPr/>
        </p:nvSpPr>
        <p:spPr>
          <a:xfrm>
            <a:off x="8743950" y="3857625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Attempt quiz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1C0AAB-14B2-48E4-86FC-A14AEFA56FAB}"/>
              </a:ext>
            </a:extLst>
          </p:cNvPr>
          <p:cNvSpPr>
            <a:spLocks noGrp="1"/>
          </p:cNvSpPr>
          <p:nvPr/>
        </p:nvSpPr>
        <p:spPr>
          <a:xfrm>
            <a:off x="8743950" y="43719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/>
          </a:bodyPr>
          <a:lstStyle>
            <a:def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Submit answers and calculate score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00EF5D-E336-4378-B0E0-9E7EAF1A1E83}"/>
              </a:ext>
            </a:extLst>
          </p:cNvPr>
          <p:cNvSpPr>
            <a:spLocks noGrp="1"/>
          </p:cNvSpPr>
          <p:nvPr/>
        </p:nvSpPr>
        <p:spPr>
          <a:xfrm>
            <a:off x="762000" y="537210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Output: quiz results and attempt records for review</a:t>
            </a:r>
          </a:p>
        </p:txBody>
      </p:sp>
    </p:spTree>
    <p:extLst>
      <p:ext uri="{BB962C8B-B14F-4D97-AF65-F5344CB8AC3E}">
        <p14:creationId xmlns:p14="http://schemas.microsoft.com/office/powerpoint/2010/main" val="41836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D333179-134D-41D4-AC1D-8460D1977F8D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6200" cy="466725"/>
          </a:xfrm>
          <a:prstGeom prst="rect">
            <a:avLst/>
          </a:prstGeom>
          <a:solidFill>
            <a:srgbClr val="057D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650D14-B09E-4321-A718-A12D530F1710}"/>
              </a:ext>
            </a:extLst>
          </p:cNvPr>
          <p:cNvSpPr>
            <a:spLocks noGrp="1"/>
          </p:cNvSpPr>
          <p:nvPr/>
        </p:nvSpPr>
        <p:spPr>
          <a:xfrm>
            <a:off x="933450" y="495300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2D2EC4-772E-4B45-A952-CA0211BEE20B}"/>
              </a:ext>
            </a:extLst>
          </p:cNvPr>
          <p:cNvSpPr>
            <a:spLocks noGrp="1"/>
          </p:cNvSpPr>
          <p:nvPr/>
        </p:nvSpPr>
        <p:spPr>
          <a:xfrm>
            <a:off x="685800" y="1266825"/>
            <a:ext cx="10810875" cy="19050"/>
          </a:xfrm>
          <a:prstGeom prst="rect">
            <a:avLst/>
          </a:prstGeom>
          <a:solidFill>
            <a:srgbClr val="D7E3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EE8CAC-F27B-4917-914E-FFE949D9AC5A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1038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Frontend requests flow through API routes to application logic and database models.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D8BA4F-2252-4547-B6CF-EEF8B301123B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3162300" cy="1781175"/>
          </a:xfrm>
          <a:prstGeom prst="roundRect">
            <a:avLst>
              <a:gd name="adj" fmla="val 4278"/>
            </a:avLst>
          </a:prstGeom>
          <a:solidFill>
            <a:srgbClr val="F5F8FA"/>
          </a:solidFill>
          <a:ln w="9525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D9A18B-6901-469B-A55F-47130ED58FFE}"/>
              </a:ext>
            </a:extLst>
          </p:cNvPr>
          <p:cNvSpPr>
            <a:spLocks noGrp="1"/>
          </p:cNvSpPr>
          <p:nvPr/>
        </p:nvSpPr>
        <p:spPr>
          <a:xfrm>
            <a:off x="962025" y="3028950"/>
            <a:ext cx="2686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React frontend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8D3E3-80D8-4EB9-AC13-E6503812F874}"/>
              </a:ext>
            </a:extLst>
          </p:cNvPr>
          <p:cNvSpPr>
            <a:spLocks noGrp="1"/>
          </p:cNvSpPr>
          <p:nvPr/>
        </p:nvSpPr>
        <p:spPr>
          <a:xfrm>
            <a:off x="923925" y="3695700"/>
            <a:ext cx="2781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Student and teacher pages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50D81B-ADCD-4852-B522-6DD65E74562E}"/>
              </a:ext>
            </a:extLst>
          </p:cNvPr>
          <p:cNvSpPr>
            <a:spLocks noGrp="1"/>
          </p:cNvSpPr>
          <p:nvPr/>
        </p:nvSpPr>
        <p:spPr>
          <a:xfrm>
            <a:off x="4505325" y="2695575"/>
            <a:ext cx="3162300" cy="1781175"/>
          </a:xfrm>
          <a:prstGeom prst="roundRect">
            <a:avLst>
              <a:gd name="adj" fmla="val 4278"/>
            </a:avLst>
          </a:prstGeom>
          <a:solidFill>
            <a:srgbClr val="F5F8FA"/>
          </a:solidFill>
          <a:ln w="9525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174EC-007E-4863-99D4-1CADDFE41DDF}"/>
              </a:ext>
            </a:extLst>
          </p:cNvPr>
          <p:cNvSpPr>
            <a:spLocks noGrp="1"/>
          </p:cNvSpPr>
          <p:nvPr/>
        </p:nvSpPr>
        <p:spPr>
          <a:xfrm>
            <a:off x="4743450" y="3028950"/>
            <a:ext cx="2686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Node.js / Express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18CAFA-426D-42E4-9E53-F51320F40E5A}"/>
              </a:ext>
            </a:extLst>
          </p:cNvPr>
          <p:cNvSpPr>
            <a:spLocks noGrp="1"/>
          </p:cNvSpPr>
          <p:nvPr/>
        </p:nvSpPr>
        <p:spPr>
          <a:xfrm>
            <a:off x="4705350" y="3695700"/>
            <a:ext cx="2781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API routes, auth, quiz logic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8A2617-B5DD-4E8E-BFFF-8DDD591CDEC4}"/>
              </a:ext>
            </a:extLst>
          </p:cNvPr>
          <p:cNvSpPr>
            <a:spLocks noGrp="1"/>
          </p:cNvSpPr>
          <p:nvPr/>
        </p:nvSpPr>
        <p:spPr>
          <a:xfrm>
            <a:off x="8286750" y="2695575"/>
            <a:ext cx="3162300" cy="1781175"/>
          </a:xfrm>
          <a:prstGeom prst="roundRect">
            <a:avLst>
              <a:gd name="adj" fmla="val 4278"/>
            </a:avLst>
          </a:prstGeom>
          <a:solidFill>
            <a:srgbClr val="F5F8FA"/>
          </a:solidFill>
          <a:ln w="9525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8AA420-1150-4681-9CCC-7F2891187B55}"/>
              </a:ext>
            </a:extLst>
          </p:cNvPr>
          <p:cNvSpPr>
            <a:spLocks noGrp="1"/>
          </p:cNvSpPr>
          <p:nvPr/>
        </p:nvSpPr>
        <p:spPr>
          <a:xfrm>
            <a:off x="8524875" y="3028950"/>
            <a:ext cx="2686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MongoDB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01FF7E-A6CC-43AE-AB01-B5B3DE1F37C8}"/>
              </a:ext>
            </a:extLst>
          </p:cNvPr>
          <p:cNvSpPr>
            <a:spLocks noGrp="1"/>
          </p:cNvSpPr>
          <p:nvPr/>
        </p:nvSpPr>
        <p:spPr>
          <a:xfrm>
            <a:off x="8486775" y="3695700"/>
            <a:ext cx="2781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Users, quizzes, questions, attempts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700E5F-0A40-4B8D-98B3-38E5A7704D28}"/>
              </a:ext>
            </a:extLst>
          </p:cNvPr>
          <p:cNvSpPr>
            <a:spLocks noGrp="1"/>
          </p:cNvSpPr>
          <p:nvPr/>
        </p:nvSpPr>
        <p:spPr>
          <a:xfrm>
            <a:off x="3990975" y="3209925"/>
            <a:ext cx="428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218" lnSpcReduction="10000"/>
          </a:bodyPr>
          <a:lstStyle>
            <a:def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3C720B-04A0-42F4-B3DA-31557BB7E022}"/>
              </a:ext>
            </a:extLst>
          </p:cNvPr>
          <p:cNvSpPr>
            <a:spLocks noGrp="1"/>
          </p:cNvSpPr>
          <p:nvPr/>
        </p:nvSpPr>
        <p:spPr>
          <a:xfrm>
            <a:off x="7781925" y="3209925"/>
            <a:ext cx="428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218" lnSpcReduction="10000"/>
          </a:bodyPr>
          <a:lstStyle>
            <a:def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3A5E20-7A57-4623-BB6A-938ABF666727}"/>
              </a:ext>
            </a:extLst>
          </p:cNvPr>
          <p:cNvSpPr>
            <a:spLocks noGrp="1"/>
          </p:cNvSpPr>
          <p:nvPr/>
        </p:nvSpPr>
        <p:spPr>
          <a:xfrm>
            <a:off x="742950" y="5114925"/>
            <a:ext cx="10439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Flow: React UI → Express API → controllers/models → MongoDB. Authentication middleware protects relevant routes.</a:t>
            </a:r>
          </a:p>
        </p:txBody>
      </p:sp>
    </p:spTree>
    <p:extLst>
      <p:ext uri="{BB962C8B-B14F-4D97-AF65-F5344CB8AC3E}">
        <p14:creationId xmlns:p14="http://schemas.microsoft.com/office/powerpoint/2010/main" val="60181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FB147F7-EFA4-4B76-AE4F-2DA346EA33D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6200" cy="466725"/>
          </a:xfrm>
          <a:prstGeom prst="rect">
            <a:avLst/>
          </a:prstGeom>
          <a:solidFill>
            <a:srgbClr val="057D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AA7567-732A-44BF-9794-F55107E9DF9D}"/>
              </a:ext>
            </a:extLst>
          </p:cNvPr>
          <p:cNvSpPr>
            <a:spLocks noGrp="1"/>
          </p:cNvSpPr>
          <p:nvPr/>
        </p:nvSpPr>
        <p:spPr>
          <a:xfrm>
            <a:off x="933450" y="495300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Technology and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EDAF97-D942-4892-B0FC-C06AA5329D09}"/>
              </a:ext>
            </a:extLst>
          </p:cNvPr>
          <p:cNvSpPr>
            <a:spLocks noGrp="1"/>
          </p:cNvSpPr>
          <p:nvPr/>
        </p:nvSpPr>
        <p:spPr>
          <a:xfrm>
            <a:off x="685800" y="1266825"/>
            <a:ext cx="10810875" cy="19050"/>
          </a:xfrm>
          <a:prstGeom prst="rect">
            <a:avLst/>
          </a:prstGeom>
          <a:solidFill>
            <a:srgbClr val="D7E3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E78554-F8DC-4037-B249-1DDC8F823CBA}"/>
              </a:ext>
            </a:extLst>
          </p:cNvPr>
          <p:cNvSpPr>
            <a:spLocks noGrp="1"/>
          </p:cNvSpPr>
          <p:nvPr/>
        </p:nvSpPr>
        <p:spPr>
          <a:xfrm>
            <a:off x="762000" y="17716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4FF82-B826-4B2C-BD75-87C0CBD35534}"/>
              </a:ext>
            </a:extLst>
          </p:cNvPr>
          <p:cNvSpPr>
            <a:spLocks noGrp="1"/>
          </p:cNvSpPr>
          <p:nvPr/>
        </p:nvSpPr>
        <p:spPr>
          <a:xfrm>
            <a:off x="3219450" y="1771650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TECHNOLOGY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13B907-39A4-4604-92DF-9BDCEE840FBD}"/>
              </a:ext>
            </a:extLst>
          </p:cNvPr>
          <p:cNvSpPr>
            <a:spLocks noGrp="1"/>
          </p:cNvSpPr>
          <p:nvPr/>
        </p:nvSpPr>
        <p:spPr>
          <a:xfrm>
            <a:off x="7058025" y="1771650"/>
            <a:ext cx="4010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PURPOSE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7554C47-AC44-4D23-B47A-E95012926AA1}"/>
              </a:ext>
            </a:extLst>
          </p:cNvPr>
          <p:cNvSpPr>
            <a:spLocks noGrp="1"/>
          </p:cNvSpPr>
          <p:nvPr/>
        </p:nvSpPr>
        <p:spPr>
          <a:xfrm>
            <a:off x="762000" y="2257425"/>
            <a:ext cx="10467975" cy="0"/>
          </a:xfrm>
          <a:prstGeom prst="line">
            <a:avLst/>
          </a:prstGeom>
          <a:noFill/>
          <a:ln w="19050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26A7BB-9C99-403C-B29F-D55CADAD7918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2238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Frontend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7AAD9C-92E3-40BA-A6FD-ACA2D2490C5C}"/>
              </a:ext>
            </a:extLst>
          </p:cNvPr>
          <p:cNvSpPr>
            <a:spLocks noGrp="1"/>
          </p:cNvSpPr>
          <p:nvPr/>
        </p:nvSpPr>
        <p:spPr>
          <a:xfrm>
            <a:off x="3219450" y="2428875"/>
            <a:ext cx="3333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React + Vite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C44999-8DCF-4C22-BD92-E93BE43225DF}"/>
              </a:ext>
            </a:extLst>
          </p:cNvPr>
          <p:cNvSpPr>
            <a:spLocks noGrp="1"/>
          </p:cNvSpPr>
          <p:nvPr/>
        </p:nvSpPr>
        <p:spPr>
          <a:xfrm>
            <a:off x="7058025" y="2428875"/>
            <a:ext cx="41052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Quiz, classroom, and dashboard UI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28C1F40-A1EC-408A-8D52-B63F134AE072}"/>
              </a:ext>
            </a:extLst>
          </p:cNvPr>
          <p:cNvSpPr>
            <a:spLocks noGrp="1"/>
          </p:cNvSpPr>
          <p:nvPr/>
        </p:nvSpPr>
        <p:spPr>
          <a:xfrm>
            <a:off x="762000" y="3124200"/>
            <a:ext cx="10467975" cy="0"/>
          </a:xfrm>
          <a:prstGeom prst="line">
            <a:avLst/>
          </a:prstGeom>
          <a:noFill/>
          <a:ln w="19050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387250-AB2F-4ED8-AE11-7EF360E3C52E}"/>
              </a:ext>
            </a:extLst>
          </p:cNvPr>
          <p:cNvSpPr>
            <a:spLocks noGrp="1"/>
          </p:cNvSpPr>
          <p:nvPr/>
        </p:nvSpPr>
        <p:spPr>
          <a:xfrm>
            <a:off x="762000" y="3295650"/>
            <a:ext cx="2238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Backend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F1A781-EC5A-407E-8020-8FA87AF42707}"/>
              </a:ext>
            </a:extLst>
          </p:cNvPr>
          <p:cNvSpPr>
            <a:spLocks noGrp="1"/>
          </p:cNvSpPr>
          <p:nvPr/>
        </p:nvSpPr>
        <p:spPr>
          <a:xfrm>
            <a:off x="3219450" y="3295650"/>
            <a:ext cx="3333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Node.js / Express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990EF8-B05F-4271-AB90-E13B05649337}"/>
              </a:ext>
            </a:extLst>
          </p:cNvPr>
          <p:cNvSpPr>
            <a:spLocks noGrp="1"/>
          </p:cNvSpPr>
          <p:nvPr/>
        </p:nvSpPr>
        <p:spPr>
          <a:xfrm>
            <a:off x="7058025" y="3295650"/>
            <a:ext cx="41052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REST API, authentication, quiz operations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9EA7A64-7A9B-43AF-9082-F007BE8C2A30}"/>
              </a:ext>
            </a:extLst>
          </p:cNvPr>
          <p:cNvSpPr>
            <a:spLocks noGrp="1"/>
          </p:cNvSpPr>
          <p:nvPr/>
        </p:nvSpPr>
        <p:spPr>
          <a:xfrm>
            <a:off x="762000" y="3990975"/>
            <a:ext cx="10467975" cy="0"/>
          </a:xfrm>
          <a:prstGeom prst="line">
            <a:avLst/>
          </a:prstGeom>
          <a:noFill/>
          <a:ln w="19050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5B4ADE-7944-4DF4-ACEB-6CC1231EB689}"/>
              </a:ext>
            </a:extLst>
          </p:cNvPr>
          <p:cNvSpPr>
            <a:spLocks noGrp="1"/>
          </p:cNvSpPr>
          <p:nvPr/>
        </p:nvSpPr>
        <p:spPr>
          <a:xfrm>
            <a:off x="762000" y="4162425"/>
            <a:ext cx="2238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Database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3584BA-2AA4-46B1-8555-6DDD375C51A8}"/>
              </a:ext>
            </a:extLst>
          </p:cNvPr>
          <p:cNvSpPr>
            <a:spLocks noGrp="1"/>
          </p:cNvSpPr>
          <p:nvPr/>
        </p:nvSpPr>
        <p:spPr>
          <a:xfrm>
            <a:off x="3219450" y="4162425"/>
            <a:ext cx="3333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MongoDB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B33AC7-5C33-4C7F-AC8B-5C1240343465}"/>
              </a:ext>
            </a:extLst>
          </p:cNvPr>
          <p:cNvSpPr>
            <a:spLocks noGrp="1"/>
          </p:cNvSpPr>
          <p:nvPr/>
        </p:nvSpPr>
        <p:spPr>
          <a:xfrm>
            <a:off x="7058025" y="4162425"/>
            <a:ext cx="41052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10000"/>
          </a:bodyPr>
          <a:lstStyle>
            <a:def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Store users, quizzes, questions, classes, and attempts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B70770D-ACD8-4D0F-911C-E6D58588F5BD}"/>
              </a:ext>
            </a:extLst>
          </p:cNvPr>
          <p:cNvSpPr>
            <a:spLocks noGrp="1"/>
          </p:cNvSpPr>
          <p:nvPr/>
        </p:nvSpPr>
        <p:spPr>
          <a:xfrm>
            <a:off x="762000" y="4933950"/>
            <a:ext cx="10467975" cy="0"/>
          </a:xfrm>
          <a:prstGeom prst="line">
            <a:avLst/>
          </a:prstGeom>
          <a:noFill/>
          <a:ln w="19050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BBF5F2-C6D0-406D-8010-EC49073342B0}"/>
              </a:ext>
            </a:extLst>
          </p:cNvPr>
          <p:cNvSpPr>
            <a:spLocks noGrp="1"/>
          </p:cNvSpPr>
          <p:nvPr/>
        </p:nvSpPr>
        <p:spPr>
          <a:xfrm>
            <a:off x="781050" y="5334000"/>
            <a:ext cx="76200" cy="590550"/>
          </a:xfrm>
          <a:prstGeom prst="rect">
            <a:avLst/>
          </a:prstGeom>
          <a:solidFill>
            <a:srgbClr val="C66F3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523641-22AF-4422-B4C4-07EBDF66BC0B}"/>
              </a:ext>
            </a:extLst>
          </p:cNvPr>
          <p:cNvSpPr>
            <a:spLocks noGrp="1"/>
          </p:cNvSpPr>
          <p:nvPr/>
        </p:nvSpPr>
        <p:spPr>
          <a:xfrm>
            <a:off x="1047750" y="5324475"/>
            <a:ext cx="99345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Technical point: explain how quiz answers are submitted, graded, and saved as an attempt.</a:t>
            </a:r>
          </a:p>
        </p:txBody>
      </p:sp>
    </p:spTree>
    <p:extLst>
      <p:ext uri="{BB962C8B-B14F-4D97-AF65-F5344CB8AC3E}">
        <p14:creationId xmlns:p14="http://schemas.microsoft.com/office/powerpoint/2010/main" val="106929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D683677-CFE4-42C3-B506-35A3D691217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6200" cy="466725"/>
          </a:xfrm>
          <a:prstGeom prst="rect">
            <a:avLst/>
          </a:prstGeom>
          <a:solidFill>
            <a:srgbClr val="057D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6F93B-FDE5-4150-BC75-509844020508}"/>
              </a:ext>
            </a:extLst>
          </p:cNvPr>
          <p:cNvSpPr>
            <a:spLocks noGrp="1"/>
          </p:cNvSpPr>
          <p:nvPr/>
        </p:nvSpPr>
        <p:spPr>
          <a:xfrm>
            <a:off x="933450" y="495300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Screenshots and demonstration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B4A747-2BA7-4A8E-884F-CDAF97FCBE42}"/>
              </a:ext>
            </a:extLst>
          </p:cNvPr>
          <p:cNvSpPr>
            <a:spLocks noGrp="1"/>
          </p:cNvSpPr>
          <p:nvPr/>
        </p:nvSpPr>
        <p:spPr>
          <a:xfrm>
            <a:off x="685800" y="1266825"/>
            <a:ext cx="10810875" cy="19050"/>
          </a:xfrm>
          <a:prstGeom prst="rect">
            <a:avLst/>
          </a:prstGeom>
          <a:solidFill>
            <a:srgbClr val="D7E3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34597F-F69F-4F7A-B705-D44ECC9432C4}"/>
              </a:ext>
            </a:extLst>
          </p:cNvPr>
          <p:cNvSpPr>
            <a:spLocks noGrp="1"/>
          </p:cNvSpPr>
          <p:nvPr/>
        </p:nvSpPr>
        <p:spPr>
          <a:xfrm>
            <a:off x="723900" y="1419469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lang="en-IN" dirty="0"/>
              <a:t>S</a:t>
            </a:r>
            <a:r>
              <a:rPr sz="2100" b="0" dirty="0" err="1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creenshots</a:t>
            </a:r>
            <a:r>
              <a:rPr sz="2100" b="0" dirty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 from the running </a:t>
            </a:r>
            <a:r>
              <a:rPr sz="2100" b="0" dirty="0" err="1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Quizingo</a:t>
            </a:r>
            <a:r>
              <a:rPr sz="2100" b="0" dirty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 application;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46CDA2-7942-473F-B19C-77A89D18F5D1}"/>
              </a:ext>
            </a:extLst>
          </p:cNvPr>
          <p:cNvSpPr>
            <a:spLocks noGrp="1"/>
          </p:cNvSpPr>
          <p:nvPr/>
        </p:nvSpPr>
        <p:spPr>
          <a:xfrm>
            <a:off x="1085850" y="3533775"/>
            <a:ext cx="4419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pPr>
            <a:endParaRPr sz="1725" b="0" dirty="0">
              <a:solidFill>
                <a:srgbClr val="657988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AE05C6-1377-4FC7-9D84-203CEC3115BD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5048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01  Teacher dashboard / quiz creation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23CE31-25C1-4A7C-BA8E-F924216C4737}"/>
              </a:ext>
            </a:extLst>
          </p:cNvPr>
          <p:cNvSpPr>
            <a:spLocks noGrp="1"/>
          </p:cNvSpPr>
          <p:nvPr/>
        </p:nvSpPr>
        <p:spPr>
          <a:xfrm>
            <a:off x="6657975" y="3533775"/>
            <a:ext cx="4419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defPPr>
            <a:lvl1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1pPr>
            <a:lvl2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2pPr>
            <a:lvl3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3pPr>
            <a:lvl4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4pPr>
            <a:lvl5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5pPr>
            <a:lvl6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6pPr>
            <a:lvl7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7pPr>
            <a:lvl8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8pPr>
            <a:lvl9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1725" b="0">
                <a:solidFill>
                  <a:srgbClr val="657988"/>
                </a:solidFill>
                <a:latin typeface="Nimbus Sans"/>
                <a:ea typeface="Nimbus Sans"/>
                <a:cs typeface="Nimbus Sans"/>
              </a:defRPr>
            </a:pPr>
            <a:endParaRPr sz="1725" b="0" dirty="0">
              <a:solidFill>
                <a:srgbClr val="657988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A51A8D-E390-4F4F-9871-4AE9401E9D97}"/>
              </a:ext>
            </a:extLst>
          </p:cNvPr>
          <p:cNvSpPr>
            <a:spLocks noGrp="1"/>
          </p:cNvSpPr>
          <p:nvPr/>
        </p:nvSpPr>
        <p:spPr>
          <a:xfrm>
            <a:off x="6334125" y="5191125"/>
            <a:ext cx="5048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02  Attempt quiz / view result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88B8DB-8E66-4ED5-A3BD-9BF73937734A}"/>
              </a:ext>
            </a:extLst>
          </p:cNvPr>
          <p:cNvSpPr>
            <a:spLocks noGrp="1"/>
          </p:cNvSpPr>
          <p:nvPr/>
        </p:nvSpPr>
        <p:spPr>
          <a:xfrm>
            <a:off x="762000" y="5800725"/>
            <a:ext cx="10820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Demo sequence: login → create/open quiz → answer questions → submit → review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4DFCA-E5DD-C997-410E-AE2C46E8D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74204"/>
            <a:ext cx="5248275" cy="27191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0DE9FF-98DA-1868-5CE8-F40F36CBD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174203"/>
            <a:ext cx="5095876" cy="271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49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00B23EA-04DC-4CB7-A83C-9C911A85863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6200" cy="466725"/>
          </a:xfrm>
          <a:prstGeom prst="rect">
            <a:avLst/>
          </a:prstGeom>
          <a:solidFill>
            <a:srgbClr val="057D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4C9A3D-EF71-43C4-B914-F273791620A5}"/>
              </a:ext>
            </a:extLst>
          </p:cNvPr>
          <p:cNvSpPr>
            <a:spLocks noGrp="1"/>
          </p:cNvSpPr>
          <p:nvPr/>
        </p:nvSpPr>
        <p:spPr>
          <a:xfrm>
            <a:off x="933450" y="495300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Testing and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A378B9-16BE-4E9B-9A7B-6522D76FD9B2}"/>
              </a:ext>
            </a:extLst>
          </p:cNvPr>
          <p:cNvSpPr>
            <a:spLocks noGrp="1"/>
          </p:cNvSpPr>
          <p:nvPr/>
        </p:nvSpPr>
        <p:spPr>
          <a:xfrm>
            <a:off x="685800" y="1266825"/>
            <a:ext cx="10810875" cy="19050"/>
          </a:xfrm>
          <a:prstGeom prst="rect">
            <a:avLst/>
          </a:prstGeom>
          <a:solidFill>
            <a:srgbClr val="D7E3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7DB44C-E204-494B-93A9-E8ACD338BD58}"/>
              </a:ext>
            </a:extLst>
          </p:cNvPr>
          <p:cNvSpPr>
            <a:spLocks noGrp="1"/>
          </p:cNvSpPr>
          <p:nvPr/>
        </p:nvSpPr>
        <p:spPr>
          <a:xfrm>
            <a:off x="762000" y="1647825"/>
            <a:ext cx="1009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405664"/>
                </a:solidFill>
                <a:latin typeface="Nimbus Sans"/>
                <a:ea typeface="Nimbus Sans"/>
                <a:cs typeface="Nimbus Sans"/>
              </a:rPr>
              <a:t>Use test evidence from the project; enter actual outcomes after running each test.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CBD915-5DDD-4383-981C-39F4DD84EA48}"/>
              </a:ext>
            </a:extLst>
          </p:cNvPr>
          <p:cNvSpPr>
            <a:spLocks noGrp="1"/>
          </p:cNvSpPr>
          <p:nvPr/>
        </p:nvSpPr>
        <p:spPr>
          <a:xfrm>
            <a:off x="762000" y="2562225"/>
            <a:ext cx="10401300" cy="781050"/>
          </a:xfrm>
          <a:prstGeom prst="rect">
            <a:avLst/>
          </a:prstGeom>
          <a:solidFill>
            <a:srgbClr val="1027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0F701-EEF7-4C5E-95DE-75B7B72B983A}"/>
              </a:ext>
            </a:extLst>
          </p:cNvPr>
          <p:cNvSpPr>
            <a:spLocks noGrp="1"/>
          </p:cNvSpPr>
          <p:nvPr/>
        </p:nvSpPr>
        <p:spPr>
          <a:xfrm>
            <a:off x="914400" y="2628900"/>
            <a:ext cx="21812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TEST CASE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9FE7D4-F1E9-459D-BD99-53802D10CCE0}"/>
              </a:ext>
            </a:extLst>
          </p:cNvPr>
          <p:cNvSpPr>
            <a:spLocks noGrp="1"/>
          </p:cNvSpPr>
          <p:nvPr/>
        </p:nvSpPr>
        <p:spPr>
          <a:xfrm>
            <a:off x="3362325" y="2628900"/>
            <a:ext cx="4143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EXPECTED BEHAVIOR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D37D66-BD2C-4829-BCBC-C61A58A149EE}"/>
              </a:ext>
            </a:extLst>
          </p:cNvPr>
          <p:cNvSpPr>
            <a:spLocks noGrp="1"/>
          </p:cNvSpPr>
          <p:nvPr/>
        </p:nvSpPr>
        <p:spPr>
          <a:xfrm>
            <a:off x="7772400" y="2628900"/>
            <a:ext cx="32766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OBSERVED RESULT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E70765-1E1F-4B1F-AD48-AA144359B449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401300" cy="781050"/>
          </a:xfrm>
          <a:prstGeom prst="rect">
            <a:avLst/>
          </a:prstGeom>
          <a:solidFill>
            <a:srgbClr val="F5F8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FE812A-4BB6-4E81-B942-90BF2A1E6F6B}"/>
              </a:ext>
            </a:extLst>
          </p:cNvPr>
          <p:cNvSpPr>
            <a:spLocks noGrp="1"/>
          </p:cNvSpPr>
          <p:nvPr/>
        </p:nvSpPr>
        <p:spPr>
          <a:xfrm>
            <a:off x="914400" y="3419475"/>
            <a:ext cx="21812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User login / OTP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0A7F37-90A3-44FB-B17F-4BEC873A5ECB}"/>
              </a:ext>
            </a:extLst>
          </p:cNvPr>
          <p:cNvSpPr>
            <a:spLocks noGrp="1"/>
          </p:cNvSpPr>
          <p:nvPr/>
        </p:nvSpPr>
        <p:spPr>
          <a:xfrm>
            <a:off x="3362325" y="3419475"/>
            <a:ext cx="4143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Valid verification permits account access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0A393C-53F5-4A6E-ABCD-4E33DC25F68F}"/>
              </a:ext>
            </a:extLst>
          </p:cNvPr>
          <p:cNvSpPr>
            <a:spLocks noGrp="1"/>
          </p:cNvSpPr>
          <p:nvPr/>
        </p:nvSpPr>
        <p:spPr>
          <a:xfrm>
            <a:off x="7772400" y="3419475"/>
            <a:ext cx="32766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endParaRPr sz="1800" b="0" dirty="0">
              <a:solidFill>
                <a:srgbClr val="172D3C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0285E-2FD7-45AE-B170-367C11EC0990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10401300" cy="781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03B156-F13A-42F7-9D51-9F60D1C3A69C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21812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Quiz grading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FECCB8-9D7D-4A1D-B80E-D60E81FF2110}"/>
              </a:ext>
            </a:extLst>
          </p:cNvPr>
          <p:cNvSpPr>
            <a:spLocks noGrp="1"/>
          </p:cNvSpPr>
          <p:nvPr/>
        </p:nvSpPr>
        <p:spPr>
          <a:xfrm>
            <a:off x="3362325" y="4210050"/>
            <a:ext cx="4143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Submitted answers are graded and score is returned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BFAD84-4842-4325-920A-A8ED82EE1435}"/>
              </a:ext>
            </a:extLst>
          </p:cNvPr>
          <p:cNvSpPr>
            <a:spLocks noGrp="1"/>
          </p:cNvSpPr>
          <p:nvPr/>
        </p:nvSpPr>
        <p:spPr>
          <a:xfrm>
            <a:off x="7772400" y="4210050"/>
            <a:ext cx="32766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endParaRPr sz="1800" b="0" dirty="0">
              <a:solidFill>
                <a:srgbClr val="172D3C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1E28D6-E9A4-4E91-8AF0-033A3B88C541}"/>
              </a:ext>
            </a:extLst>
          </p:cNvPr>
          <p:cNvSpPr>
            <a:spLocks noGrp="1"/>
          </p:cNvSpPr>
          <p:nvPr/>
        </p:nvSpPr>
        <p:spPr>
          <a:xfrm>
            <a:off x="762000" y="4933950"/>
            <a:ext cx="10401300" cy="781050"/>
          </a:xfrm>
          <a:prstGeom prst="rect">
            <a:avLst/>
          </a:prstGeom>
          <a:solidFill>
            <a:srgbClr val="F5F8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838D1F-57D7-4D21-9D8A-17800A6550E4}"/>
              </a:ext>
            </a:extLst>
          </p:cNvPr>
          <p:cNvSpPr>
            <a:spLocks noGrp="1"/>
          </p:cNvSpPr>
          <p:nvPr/>
        </p:nvSpPr>
        <p:spPr>
          <a:xfrm>
            <a:off x="914400" y="5000625"/>
            <a:ext cx="21812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Classroom access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C6C01E-C50D-4D89-BA63-2387296116E7}"/>
              </a:ext>
            </a:extLst>
          </p:cNvPr>
          <p:cNvSpPr>
            <a:spLocks noGrp="1"/>
          </p:cNvSpPr>
          <p:nvPr/>
        </p:nvSpPr>
        <p:spPr>
          <a:xfrm>
            <a:off x="3362325" y="5000625"/>
            <a:ext cx="414337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User can view/join available classroom content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8BC560-8714-415B-8A72-8185CD2B1D5B}"/>
              </a:ext>
            </a:extLst>
          </p:cNvPr>
          <p:cNvSpPr>
            <a:spLocks noGrp="1"/>
          </p:cNvSpPr>
          <p:nvPr/>
        </p:nvSpPr>
        <p:spPr>
          <a:xfrm>
            <a:off x="7772400" y="5000625"/>
            <a:ext cx="32766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ctr">
              <a:defRPr sz="1800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lang="en-US" dirty="0"/>
              <a:t>6SYV9V</a:t>
            </a:r>
            <a:endParaRPr sz="1800" b="0" dirty="0">
              <a:solidFill>
                <a:srgbClr val="172D3C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BB9E91-4474-2F33-C2A2-A7FD53DD841D}"/>
              </a:ext>
            </a:extLst>
          </p:cNvPr>
          <p:cNvSpPr/>
          <p:nvPr/>
        </p:nvSpPr>
        <p:spPr>
          <a:xfrm>
            <a:off x="8262593" y="4210050"/>
            <a:ext cx="2163452" cy="6572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30%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421AB-9892-FC61-8AEF-989FCD6B9A9B}"/>
              </a:ext>
            </a:extLst>
          </p:cNvPr>
          <p:cNvSpPr/>
          <p:nvPr/>
        </p:nvSpPr>
        <p:spPr>
          <a:xfrm>
            <a:off x="8262593" y="5000625"/>
            <a:ext cx="2163452" cy="590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6SYV9V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04836D-93AD-5D90-1B2E-70B9FECB6A84}"/>
              </a:ext>
            </a:extLst>
          </p:cNvPr>
          <p:cNvSpPr/>
          <p:nvPr/>
        </p:nvSpPr>
        <p:spPr>
          <a:xfrm>
            <a:off x="8262593" y="3429000"/>
            <a:ext cx="2163452" cy="647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624587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99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8222203-DC3E-4DD2-BF6A-3CEA35866DF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76200" cy="466725"/>
          </a:xfrm>
          <a:prstGeom prst="rect">
            <a:avLst/>
          </a:prstGeom>
          <a:solidFill>
            <a:srgbClr val="057D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26EE6-F9A5-490B-8A82-81A623668EAB}"/>
              </a:ext>
            </a:extLst>
          </p:cNvPr>
          <p:cNvSpPr>
            <a:spLocks noGrp="1"/>
          </p:cNvSpPr>
          <p:nvPr/>
        </p:nvSpPr>
        <p:spPr>
          <a:xfrm>
            <a:off x="933450" y="495300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Conclusion and 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6BB69-0F0C-45DF-9B9E-62E21702B1BF}"/>
              </a:ext>
            </a:extLst>
          </p:cNvPr>
          <p:cNvSpPr>
            <a:spLocks noGrp="1"/>
          </p:cNvSpPr>
          <p:nvPr/>
        </p:nvSpPr>
        <p:spPr>
          <a:xfrm>
            <a:off x="685800" y="1266825"/>
            <a:ext cx="10810875" cy="19050"/>
          </a:xfrm>
          <a:prstGeom prst="rect">
            <a:avLst/>
          </a:prstGeom>
          <a:solidFill>
            <a:srgbClr val="D7E3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362CD4-1BC3-4032-BCBD-DDDC6398FAD4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4743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Project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E64777-2242-435E-988D-582934133BDF}"/>
              </a:ext>
            </a:extLst>
          </p:cNvPr>
          <p:cNvSpPr>
            <a:spLocks noGrp="1"/>
          </p:cNvSpPr>
          <p:nvPr/>
        </p:nvSpPr>
        <p:spPr>
          <a:xfrm>
            <a:off x="781050" y="2390775"/>
            <a:ext cx="4638675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Quizingo includes user authentication, quiz management, question-bank/import tools, classrooms, quiz attempts, and grading.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3FC29D2-40FE-46E1-BD47-5C1A1A9754CE}"/>
              </a:ext>
            </a:extLst>
          </p:cNvPr>
          <p:cNvSpPr>
            <a:spLocks noGrp="1"/>
          </p:cNvSpPr>
          <p:nvPr/>
        </p:nvSpPr>
        <p:spPr>
          <a:xfrm>
            <a:off x="5905500" y="1847850"/>
            <a:ext cx="0" cy="3162300"/>
          </a:xfrm>
          <a:prstGeom prst="line">
            <a:avLst/>
          </a:prstGeom>
          <a:noFill/>
          <a:ln w="19050">
            <a:solidFill>
              <a:srgbClr val="D7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3CD352-7274-46FF-8531-01844059EB86}"/>
              </a:ext>
            </a:extLst>
          </p:cNvPr>
          <p:cNvSpPr>
            <a:spLocks noGrp="1"/>
          </p:cNvSpPr>
          <p:nvPr/>
        </p:nvSpPr>
        <p:spPr>
          <a:xfrm>
            <a:off x="6391275" y="1847850"/>
            <a:ext cx="464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057D7B"/>
                </a:solidFill>
                <a:latin typeface="Nimbus Sans"/>
                <a:ea typeface="Nimbus Sans"/>
                <a:cs typeface="Nimbus Sans"/>
              </a:rPr>
              <a:t>Next steps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83B455-C18F-4C86-B8FE-82CC98888483}"/>
              </a:ext>
            </a:extLst>
          </p:cNvPr>
          <p:cNvSpPr>
            <a:spLocks noGrp="1"/>
          </p:cNvSpPr>
          <p:nvPr/>
        </p:nvSpPr>
        <p:spPr>
          <a:xfrm>
            <a:off x="6391275" y="2390775"/>
            <a:ext cx="44767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72D3C"/>
                </a:solidFill>
                <a:latin typeface="Nimbus Sans"/>
                <a:ea typeface="Nimbus Sans"/>
                <a:cs typeface="Nimbus Sans"/>
              </a:rPr>
              <a:t>Run end-to-end tests, verify deployment configuration, and add further reporting or analytics as needed.</a:t>
            </a:r>
          </a:p>
        </p:txBody>
      </p:sp>
    </p:spTree>
    <p:extLst>
      <p:ext uri="{BB962C8B-B14F-4D97-AF65-F5344CB8AC3E}">
        <p14:creationId xmlns:p14="http://schemas.microsoft.com/office/powerpoint/2010/main" val="32490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87EA1B2-A91E-4FDC-B561-6E70D5C9B6E3}"/>
              </a:ext>
            </a:extLst>
          </p:cNvPr>
          <p:cNvSpPr>
            <a:spLocks noGrp="1"/>
          </p:cNvSpPr>
          <p:nvPr/>
        </p:nvSpPr>
        <p:spPr>
          <a:xfrm>
            <a:off x="4855259" y="2638425"/>
            <a:ext cx="10001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 algn="l">
              <a:defRPr sz="4500" b="1">
                <a:solidFill>
                  <a:srgbClr val="10273C"/>
                </a:solidFill>
                <a:latin typeface="Nimbus Sans"/>
                <a:ea typeface="Nimbus Sans"/>
                <a:cs typeface="Nimbus Sans"/>
              </a:defRPr>
            </a:pPr>
            <a:r>
              <a:rPr sz="4500" b="1" dirty="0">
                <a:solidFill>
                  <a:srgbClr val="10273C"/>
                </a:solidFill>
                <a:latin typeface="Nimbus Sans"/>
                <a:ea typeface="Nimbus Sans"/>
                <a:cs typeface="Nimbus San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81512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448</Words>
  <Application>Microsoft Office PowerPoint</Application>
  <DocSecurity>0</DocSecurity>
  <PresentationFormat>Widescreen</PresentationFormat>
  <Paragraphs>81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Nimbus Sans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satyam tripathi</cp:lastModifiedBy>
  <cp:revision>3</cp:revision>
  <dcterms:created xsi:type="dcterms:W3CDTF">2026-10-28T06:13:09Z</dcterms:created>
  <dcterms:modified xsi:type="dcterms:W3CDTF">2026-10-28T11:52:50Z</dcterms:modified>
</cp:coreProperties>
</file>